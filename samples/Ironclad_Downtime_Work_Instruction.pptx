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8503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DOWNTIME &amp;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REPORTING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Work Instruction  ·  Operator &amp; Maintenance Team</a:t>
            </a:r>
            <a:endParaRPr lang="en-US" sz="1600" dirty="0"/>
          </a:p>
        </p:txBody>
      </p:sp>
      <p:pic>
        <p:nvPicPr>
          <p:cNvPr id="4" name="Image 0" descr="/home/claude/ironclad/icons/hard_h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01168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WI-VA-MNT-001   </a:t>
            </a:r>
            <a:pPr indent="0" marL="0">
              <a:buNone/>
            </a:pPr>
            <a:r>
              <a:rPr lang="en-US" sz="1200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 Version 1.0   |   Ironclad Metal Works (fictional)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Self-initiated demonstration project. No real client, data, or business is involved.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Precautions &amp; Equipment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0" y="91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WI-VA-MNT-001</a:t>
            </a:r>
            <a:endParaRPr lang="en-US" sz="11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Ironclad Metal Works — Demo Copy Only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CEFE3"/>
          </a:solidFill>
          <a:ln w="15240">
            <a:solidFill>
              <a:srgbClr val="E67E22"/>
            </a:solidFill>
            <a:prstDash val="solid"/>
          </a:ln>
        </p:spPr>
      </p:sp>
      <p:pic>
        <p:nvPicPr>
          <p:cNvPr id="6" name="Image 0" descr="/home/claude/ironclad/icons/hard_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Precautions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Lockout/tagout the machine before any hands-on inspection or repair.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 safety glasses and gloves when working near moving or hot parts.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residual energy (hydraulic, electrical) is released before opening panels.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work area clear of tools and cords — no trip hazards.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bypass a safety interlock to run a test cycle.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1430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0" name="Image 1" descr="/home/claude/ironclad/icons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4173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14032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&amp; Materials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65392" y="20116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Lockout/tagout kit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glasses and cut-resistant gloves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toolset for the machine class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tracker (digital or paper log)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fault code reference sheet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Replacement parts per machine spec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4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Fictional company, sample data for portfolio use.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— Steps 1 to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0" y="91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WI-VA-MNT-001</a:t>
            </a:r>
            <a:endParaRPr lang="en-US" sz="11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Ironclad Metal Works — Demo Copy 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OPERATOR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pic>
        <p:nvPicPr>
          <p:cNvPr id="9" name="Image 0" descr="/home/claude/ironclad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152" y="151790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199339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Machine Fault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1792" y="2450592"/>
            <a:ext cx="32826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abnormal sound, error code, or a full machine stoppage.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88536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53128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1"/>
          <p:cNvSpPr/>
          <p:nvPr/>
        </p:nvSpPr>
        <p:spPr>
          <a:xfrm>
            <a:off x="445312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pic>
        <p:nvPicPr>
          <p:cNvPr id="15" name="Image 1" descr="/home/claude/ironclad/icons/hard_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517904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53128" y="199339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Machine Safely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453128" y="2450592"/>
            <a:ext cx="32826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the machine and follow lockout/tagout if required.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19872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84464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6"/>
          <p:cNvSpPr/>
          <p:nvPr/>
        </p:nvSpPr>
        <p:spPr>
          <a:xfrm>
            <a:off x="828446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pic>
        <p:nvPicPr>
          <p:cNvPr id="21" name="Image 2" descr="/home/claude/ironclad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1517904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84464" y="199339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Downtime Start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284464" y="2450592"/>
            <a:ext cx="32826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downtime start time and fault code in the tracker.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7200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21792" y="414223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6" name="Text 21"/>
          <p:cNvSpPr/>
          <p:nvPr/>
        </p:nvSpPr>
        <p:spPr>
          <a:xfrm>
            <a:off x="621792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pic>
        <p:nvPicPr>
          <p:cNvPr id="27" name="Image 3" descr="/home/claude/ironclad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4123944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1792" y="459943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Maintenance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21792" y="5056632"/>
            <a:ext cx="32826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machine ID and fault code to the Maintenance Technician.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288536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D9D9D9"/>
            </a:solidFill>
            <a:prstDash val="dash"/>
          </a:ln>
        </p:spPr>
      </p:sp>
      <p:sp>
        <p:nvSpPr>
          <p:cNvPr id="31" name="Text 25"/>
          <p:cNvSpPr/>
          <p:nvPr/>
        </p:nvSpPr>
        <p:spPr>
          <a:xfrm>
            <a:off x="4453128" y="484632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Continues on next page →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4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Fictional company, sample data for portfolio use.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— Steps 5 to 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0" y="91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WI-VA-MNT-001</a:t>
            </a:r>
            <a:endParaRPr lang="en-US" sz="11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Ironclad Metal Works — Demo Copy 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TECHNICIAN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CEFE3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pic>
        <p:nvPicPr>
          <p:cNvPr id="9" name="Image 0" descr="/home/claude/ironclad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9464" y="151790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19933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Fault &amp; Log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1792" y="2450592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fault code and downtime log are complete before starting.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764792" y="34107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CHECK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319272" y="13716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83864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5" name="Text 12"/>
          <p:cNvSpPr/>
          <p:nvPr/>
        </p:nvSpPr>
        <p:spPr>
          <a:xfrm>
            <a:off x="348386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pic>
        <p:nvPicPr>
          <p:cNvPr id="16" name="Image 1" descr="/home/claude/ironclad/icons/file_contr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536" y="1517904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83864" y="19933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Root Cause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483864" y="2450592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and test the machine to find the underlying issue.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81344" y="13716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45936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7"/>
          <p:cNvSpPr/>
          <p:nvPr/>
        </p:nvSpPr>
        <p:spPr>
          <a:xfrm>
            <a:off x="634593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pic>
        <p:nvPicPr>
          <p:cNvPr id="22" name="Image 2" descr="/home/claude/ironclad/icons/box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517904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45936" y="19933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Repair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345936" y="2450592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corrective repair or part replacement.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043416" y="13716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CEFE3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08008" y="1536192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7" name="Text 22"/>
          <p:cNvSpPr/>
          <p:nvPr/>
        </p:nvSpPr>
        <p:spPr>
          <a:xfrm>
            <a:off x="920800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pic>
        <p:nvPicPr>
          <p:cNvPr id="28" name="Image 3" descr="/home/claude/ironclad/icons/check_dou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1517904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08008" y="19933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Before Clearing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9208008" y="2450592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test cycle to confirm the fix works before clearing.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0351008" y="34107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CHECK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457200" y="3977640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21792" y="414223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4" name="Text 28"/>
          <p:cNvSpPr/>
          <p:nvPr/>
        </p:nvSpPr>
        <p:spPr>
          <a:xfrm>
            <a:off x="621792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pic>
        <p:nvPicPr>
          <p:cNvPr id="35" name="Image 4" descr="/home/claude/ironclad/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4123944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21792" y="45994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Downtime End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621792" y="5056632"/>
            <a:ext cx="52120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end time, root cause, and parts used in the tracker.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181344" y="3977640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345936" y="414223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40" name="Text 33"/>
          <p:cNvSpPr/>
          <p:nvPr/>
        </p:nvSpPr>
        <p:spPr>
          <a:xfrm>
            <a:off x="6345936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pic>
        <p:nvPicPr>
          <p:cNvPr id="41" name="Image 5" descr="/home/claude/ironclad/icons/user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0" y="4123944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345936" y="45994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&amp; Resume</a:t>
            </a:r>
            <a:endParaRPr lang="en-US" sz="1250" dirty="0"/>
          </a:p>
        </p:txBody>
      </p:sp>
      <p:sp>
        <p:nvSpPr>
          <p:cNvPr id="43" name="Text 35"/>
          <p:cNvSpPr/>
          <p:nvPr/>
        </p:nvSpPr>
        <p:spPr>
          <a:xfrm>
            <a:off x="6345936" y="5056632"/>
            <a:ext cx="52120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with the Operator the machine is cleared to resume.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4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Fictional company, sample data for portfolio use.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Approval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0" y="91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WI-VA-MNT-001</a:t>
            </a:r>
            <a:endParaRPr lang="en-US" sz="11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Ironclad Metal Works — Demo Copy Only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74552" cy="4206240"/>
          </a:xfrm>
          <a:prstGeom prst="roundRect">
            <a:avLst>
              <a:gd name="adj" fmla="val 1739"/>
            </a:avLst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 Instruction has been reviewed for accuracy, safety, and completeness prior to posting on the production floor.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Abat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Process VA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build — July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292608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/ Date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BY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[Self-reviewed]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project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4572000"/>
            <a:ext cx="292608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/ Date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3816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BY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[Fictional Client]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applicable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4572000"/>
            <a:ext cx="292608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/ 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Work Instruction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Fictional company, sample data for portfolio use.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Downtime &amp; Maintenance Reporting — Work Instruction</dc:title>
  <dc:subject>PptxGenJS Presentation</dc:subject>
  <dc:creator>Michael Abat</dc:creator>
  <cp:lastModifiedBy>Michael Abat</cp:lastModifiedBy>
  <cp:revision>1</cp:revision>
  <dcterms:created xsi:type="dcterms:W3CDTF">2026-07-06T10:47:08Z</dcterms:created>
  <dcterms:modified xsi:type="dcterms:W3CDTF">2026-07-06T10:47:08Z</dcterms:modified>
</cp:coreProperties>
</file>