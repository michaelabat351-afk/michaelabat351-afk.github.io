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-title-white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Relationship Id="rId7" Type="http://schemas.openxmlformats.org/officeDocument/2006/relationships/image" Target="../media/image-2-2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Relationship Id="rId8" Type="http://schemas.openxmlformats.org/officeDocument/2006/relationships/image" Target="../media/image-2-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920240"/>
            <a:ext cx="8503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FULFILLMENT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PICK, PACK &amp; SHIP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3703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Work Instruction  ·  Warehouse Fulfillment Team</a:t>
            </a:r>
            <a:endParaRPr lang="en-US" sz="1600" dirty="0"/>
          </a:p>
        </p:txBody>
      </p:sp>
      <p:pic>
        <p:nvPicPr>
          <p:cNvPr id="4" name="Image 0" descr="/home/claude/bloom/icons/boxe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0" y="2011680"/>
            <a:ext cx="182880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5394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WI-VA-FUL-001   </a:t>
            </a:r>
            <a:pPr indent="0" marL="0">
              <a:buNone/>
            </a:pPr>
            <a:r>
              <a:rPr lang="en-US" sz="1200" dirty="0">
                <a:solidFill>
                  <a:srgbClr val="8F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  Version 1.0   |   Clearwater Supply Co. (fictional)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1520" y="5989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8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COPY ONLY — Self-initiated demonstration project. No real client, data, or business is involved.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Packing Guidelines &amp; Equipment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961120" y="914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F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WI-VA-FUL-001</a:t>
            </a:r>
            <a:endParaRPr lang="en-US" sz="1100" dirty="0"/>
          </a:p>
          <a:p>
            <a:pPr algn="r" indent="0" marL="0">
              <a:buNone/>
            </a:pPr>
            <a:r>
              <a:rPr lang="en-US" sz="1000" i="1" dirty="0">
                <a:solidFill>
                  <a:srgbClr val="8F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Clearwater Supply Co. — Demo Copy Only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5486400" cy="4754880"/>
          </a:xfrm>
          <a:prstGeom prst="roundRect">
            <a:avLst>
              <a:gd name="adj" fmla="val 1538"/>
            </a:avLst>
          </a:prstGeom>
          <a:solidFill>
            <a:srgbClr val="FCEFE3"/>
          </a:solidFill>
          <a:ln w="15240">
            <a:solidFill>
              <a:srgbClr val="E67E22"/>
            </a:solidFill>
            <a:prstDash val="solid"/>
          </a:ln>
        </p:spPr>
      </p:sp>
      <p:pic>
        <p:nvPicPr>
          <p:cNvPr id="6" name="Image 0" descr="/home/claude/bloom/icons/hard_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173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4173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Packing Guidelines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01168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Lift with your legs. Ask for help with any box over 20 kg.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packing bench clear of loose tape, cutters, and cords.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print shipping labels for several orders at the same time.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and re-pick the order if Quality Check 1 fails.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and reprint the label if Quality Check 2 fails.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45352" y="1143000"/>
            <a:ext cx="5486400" cy="4754880"/>
          </a:xfrm>
          <a:prstGeom prst="roundRect">
            <a:avLst>
              <a:gd name="adj" fmla="val 1538"/>
            </a:avLst>
          </a:prstGeom>
          <a:solidFill>
            <a:srgbClr val="F4F6F8"/>
          </a:solidFill>
          <a:ln w="12700">
            <a:solidFill>
              <a:srgbClr val="D9D9D9"/>
            </a:solidFill>
            <a:prstDash val="solid"/>
          </a:ln>
        </p:spPr>
      </p:sp>
      <p:pic>
        <p:nvPicPr>
          <p:cNvPr id="10" name="Image 1" descr="/home/claude/bloom/icons/box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14173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14032" y="14173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&amp; Systems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565392" y="201168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management system access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Printed pick list for every order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Boxes, protective filler, and packing tape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Weighing scale at the packing station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printer and carrier scanner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Fulfillment Tracker (Clearwater_Order_Tracker.xlsx)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 of 4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624535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COPY ONLY — Fictional company, sample data for portfolio use.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Procedure — Steps 1 to 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961120" y="914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F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WI-VA-FUL-001</a:t>
            </a:r>
            <a:endParaRPr lang="en-US" sz="1100" dirty="0"/>
          </a:p>
          <a:p>
            <a:pPr algn="r" indent="0" marL="0">
              <a:buNone/>
            </a:pPr>
            <a:r>
              <a:rPr lang="en-US" sz="1000" i="1" dirty="0">
                <a:solidFill>
                  <a:srgbClr val="8F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Clearwater Supply Co. — Demo Copy Only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1536192"/>
            <a:ext cx="384048" cy="38404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pic>
        <p:nvPicPr>
          <p:cNvPr id="9" name="Image 0" descr="/home/claude/bloom/icons/box_o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02152" y="1517904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21792" y="1993392"/>
            <a:ext cx="3282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 Order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21792" y="2450592"/>
            <a:ext cx="328269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notification arrives. Print and confirm the pick list.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88536" y="137160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53128" y="1536192"/>
            <a:ext cx="384048" cy="38404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4" name="Text 11"/>
          <p:cNvSpPr/>
          <p:nvPr/>
        </p:nvSpPr>
        <p:spPr>
          <a:xfrm>
            <a:off x="4453128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pic>
        <p:nvPicPr>
          <p:cNvPr id="15" name="Image 1" descr="/home/claude/bloom/icon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3488" y="1517904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453128" y="1993392"/>
            <a:ext cx="3282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Items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453128" y="2450592"/>
            <a:ext cx="328269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each item on the list from its shelf location.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8119872" y="137160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CEFE3"/>
          </a:solidFill>
          <a:ln w="19050">
            <a:solidFill>
              <a:srgbClr val="E67E22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84464" y="1536192"/>
            <a:ext cx="384048" cy="38404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0" name="Text 16"/>
          <p:cNvSpPr/>
          <p:nvPr/>
        </p:nvSpPr>
        <p:spPr>
          <a:xfrm>
            <a:off x="8284464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pic>
        <p:nvPicPr>
          <p:cNvPr id="21" name="Image 2" descr="/home/claude/bloom/icons/clip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824" y="1517904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284464" y="1993392"/>
            <a:ext cx="3282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Picked Items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284464" y="2450592"/>
            <a:ext cx="328269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the picked items to the order list, line by line.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10360152" y="341071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QC CHECK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457200" y="397764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21792" y="4142232"/>
            <a:ext cx="384048" cy="38404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7" name="Text 22"/>
          <p:cNvSpPr/>
          <p:nvPr/>
        </p:nvSpPr>
        <p:spPr>
          <a:xfrm>
            <a:off x="621792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pic>
        <p:nvPicPr>
          <p:cNvPr id="28" name="Image 3" descr="/home/claude/bloom/icons/bel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2152" y="4123944"/>
            <a:ext cx="384048" cy="38404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21792" y="4599432"/>
            <a:ext cx="3282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 &amp; Weigh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621792" y="5056632"/>
            <a:ext cx="328269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 with the right box and filler. Record the weight.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4288536" y="397764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4F6F8"/>
          </a:solidFill>
          <a:ln w="12700">
            <a:solidFill>
              <a:srgbClr val="D9D9D9"/>
            </a:solidFill>
            <a:prstDash val="dash"/>
          </a:ln>
        </p:spPr>
      </p:sp>
      <p:sp>
        <p:nvSpPr>
          <p:cNvPr id="32" name="Text 26"/>
          <p:cNvSpPr/>
          <p:nvPr/>
        </p:nvSpPr>
        <p:spPr>
          <a:xfrm>
            <a:off x="4453128" y="4846320"/>
            <a:ext cx="3282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Continues on next page →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 of 4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624535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COPY ONLY — Fictional company, sample data for portfolio use.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Procedure — Steps 5 to 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961120" y="914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F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WI-VA-FUL-001</a:t>
            </a:r>
            <a:endParaRPr lang="en-US" sz="1100" dirty="0"/>
          </a:p>
          <a:p>
            <a:pPr algn="r" indent="0" marL="0">
              <a:buNone/>
            </a:pPr>
            <a:r>
              <a:rPr lang="en-US" sz="1000" i="1" dirty="0">
                <a:solidFill>
                  <a:srgbClr val="8F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Clearwater Supply Co. — Demo Copy Only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PACKER  ·  SHIFT LEAD  ·  OPS COORDINATOR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79192" cy="2331720"/>
          </a:xfrm>
          <a:prstGeom prst="roundRect">
            <a:avLst>
              <a:gd name="adj" fmla="val 3137"/>
            </a:avLst>
          </a:prstGeom>
          <a:solidFill>
            <a:srgbClr val="FCEFE3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1536192"/>
            <a:ext cx="384048" cy="38404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pic>
        <p:nvPicPr>
          <p:cNvPr id="9" name="Image 0" descr="/home/claude/bloom/icon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464" y="1517904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21792" y="1993392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&amp; Verify Label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21792" y="2450592"/>
            <a:ext cx="2350008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the label. Confirm name, address, and order number.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19272" y="1371600"/>
            <a:ext cx="267919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905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83864" y="1536192"/>
            <a:ext cx="384048" cy="38404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4" name="Text 11"/>
          <p:cNvSpPr/>
          <p:nvPr/>
        </p:nvSpPr>
        <p:spPr>
          <a:xfrm>
            <a:off x="3483864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pic>
        <p:nvPicPr>
          <p:cNvPr id="15" name="Image 1" descr="/home/claude/bloom/icons/file_contrac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31536" y="1517904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83864" y="1993392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Scan, Log &amp; Stage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3483864" y="2450592"/>
            <a:ext cx="2350008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tracking, log the order, move it to the outbound area.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1764792" y="341071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QC CHECK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6181344" y="1371600"/>
            <a:ext cx="267919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345936" y="1536192"/>
            <a:ext cx="384048" cy="38404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1" name="Text 17"/>
          <p:cNvSpPr/>
          <p:nvPr/>
        </p:nvSpPr>
        <p:spPr>
          <a:xfrm>
            <a:off x="6345936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" dirty="0"/>
          </a:p>
        </p:txBody>
      </p:sp>
      <p:pic>
        <p:nvPicPr>
          <p:cNvPr id="22" name="Image 2" descr="/home/claude/bloom/icons/paper_pla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93608" y="1517904"/>
            <a:ext cx="384048" cy="38404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345936" y="1993392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Tracker Daily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6345936" y="2450592"/>
            <a:ext cx="2350008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Lead checks logged orders and any flagged rows.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9043416" y="1371600"/>
            <a:ext cx="267919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208008" y="1536192"/>
            <a:ext cx="384048" cy="38404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7" name="Text 22"/>
          <p:cNvSpPr/>
          <p:nvPr/>
        </p:nvSpPr>
        <p:spPr>
          <a:xfrm>
            <a:off x="9208008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500" dirty="0"/>
          </a:p>
        </p:txBody>
      </p:sp>
      <p:pic>
        <p:nvPicPr>
          <p:cNvPr id="28" name="Image 3" descr="/home/claude/bloom/icons/comm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1517904"/>
            <a:ext cx="384048" cy="38404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208008" y="1993392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Up on Flags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9208008" y="2450592"/>
            <a:ext cx="2350008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Chase every open issue until it is resolved and noted.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457200" y="3977640"/>
            <a:ext cx="554126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621792" y="4142232"/>
            <a:ext cx="384048" cy="38404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33" name="Text 27"/>
          <p:cNvSpPr/>
          <p:nvPr/>
        </p:nvSpPr>
        <p:spPr>
          <a:xfrm>
            <a:off x="621792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500" dirty="0"/>
          </a:p>
        </p:txBody>
      </p:sp>
      <p:pic>
        <p:nvPicPr>
          <p:cNvPr id="34" name="Image 4" descr="/home/claude/bloom/icons/check_doub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1536" y="4123944"/>
            <a:ext cx="384048" cy="38404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621792" y="459943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Trends &amp; Update SOP</a:t>
            </a:r>
            <a:endParaRPr lang="en-US" sz="1250" dirty="0"/>
          </a:p>
        </p:txBody>
      </p:sp>
      <p:sp>
        <p:nvSpPr>
          <p:cNvPr id="36" name="Text 29"/>
          <p:cNvSpPr/>
          <p:nvPr/>
        </p:nvSpPr>
        <p:spPr>
          <a:xfrm>
            <a:off x="621792" y="5056632"/>
            <a:ext cx="521208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 Coordinator reviews error trends monthly.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6181344" y="3977640"/>
            <a:ext cx="5541264" cy="2331720"/>
          </a:xfrm>
          <a:prstGeom prst="roundRect">
            <a:avLst>
              <a:gd name="adj" fmla="val 3137"/>
            </a:avLst>
          </a:prstGeom>
          <a:solidFill>
            <a:srgbClr val="F4F6F8"/>
          </a:solidFill>
          <a:ln w="12700">
            <a:solidFill>
              <a:srgbClr val="D9D9D9"/>
            </a:solidFill>
            <a:prstDash val="dash"/>
          </a:ln>
        </p:spPr>
      </p:sp>
      <p:sp>
        <p:nvSpPr>
          <p:cNvPr id="38" name="Text 31"/>
          <p:cNvSpPr/>
          <p:nvPr/>
        </p:nvSpPr>
        <p:spPr>
          <a:xfrm>
            <a:off x="6345936" y="49377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of procedure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 of 4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624535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COPY ONLY — Fictional company, sample data for portfolio use.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&amp; Approval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961120" y="914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F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WI-VA-FUL-001</a:t>
            </a:r>
            <a:endParaRPr lang="en-US" sz="1100" dirty="0"/>
          </a:p>
          <a:p>
            <a:pPr algn="r" indent="0" marL="0">
              <a:buNone/>
            </a:pPr>
            <a:r>
              <a:rPr lang="en-US" sz="1000" i="1" dirty="0">
                <a:solidFill>
                  <a:srgbClr val="8F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Clearwater Supply Co. — Demo Copy Only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74552" cy="4206240"/>
          </a:xfrm>
          <a:prstGeom prst="roundRect">
            <a:avLst>
              <a:gd name="adj" fmla="val 1739"/>
            </a:avLst>
          </a:prstGeom>
          <a:solidFill>
            <a:srgbClr val="F4F6F8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54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Work Instruction has been reviewed for accuracy and completeness prior to posting for the warehouse fulfillment team.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</a:t>
            </a:r>
            <a:endParaRPr lang="en-US" sz="11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Michael Abat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&amp; Process VA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build — July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4572000"/>
            <a:ext cx="292608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617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 / Date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80560" y="23774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REVIEWED BY</a:t>
            </a:r>
            <a:endParaRPr lang="en-US" sz="11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[Self-reviewed]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project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4572000"/>
            <a:ext cx="292608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4617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 / Date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138160" y="23774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BY</a:t>
            </a:r>
            <a:endParaRPr lang="en-US" sz="11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[Fictional Client]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applicable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4572000"/>
            <a:ext cx="292608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4617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 / Date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Work Instruction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4535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COPY ONLY — Fictional company, sample data for portfolio use.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Order Return &amp; Refund Processing — Work Instruction</dc:title>
  <dc:subject>PptxGenJS Presentation</dc:subject>
  <dc:creator>Michael Abat</dc:creator>
  <cp:lastModifiedBy>Michael Abat</cp:lastModifiedBy>
  <cp:revision>1</cp:revision>
  <dcterms:created xsi:type="dcterms:W3CDTF">2026-07-06T10:47:08Z</dcterms:created>
  <dcterms:modified xsi:type="dcterms:W3CDTF">2026-07-06T10:47:08Z</dcterms:modified>
</cp:coreProperties>
</file>